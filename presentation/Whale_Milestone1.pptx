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639B6-D1E1-CBE9-3FB4-9EE13504DBDE}" v="36" dt="2025-10-27T19:10:16.087"/>
    <p1510:client id="{3B5CABD7-10BF-9346-806F-DEED8AFEDFE8}" v="226" dt="2025-10-27T20:00:11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zh-CN" alt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7816B-A335-4B47-8695-8157C8C8A86B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75841-7698-4A3E-B31E-B2FA89402BA4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B82CA4-3C35-401C-B2AE-9DA1C410F8F8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408F3-C21E-42EF-888D-A39F2A409BBC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alt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单击此处编辑母版文本样式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21CC69-BB74-4F56-B264-8AB6CE20C2D5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B5182-1CEE-44FD-9FCA-121B089B05C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lvl="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alt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lvl="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alt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80152-2829-48E0-A3BA-25F838A07884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54737A-5763-437B-93B1-4A10FFB90EBC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8C512C-1385-4A3B-BA40-80516C07E942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marL="228600" lvl="2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marL="228600" lvl="3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marL="228600" lvl="4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alt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2FE696-BEC3-4CF2-AAEE-65715908E250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单击此处编辑母版标题样式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0"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  <a:p>
            <a:pPr lvl="1"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二级</a:t>
            </a:r>
          </a:p>
          <a:p>
            <a:pPr lvl="2"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三级</a:t>
            </a:r>
          </a:p>
          <a:p>
            <a:pPr lvl="3"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四级</a:t>
            </a:r>
          </a:p>
          <a:p>
            <a:pPr lvl="4"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alt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五级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alt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单击此处编辑母版文本样式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058FE9-48AB-43AF-8BC6-515BB413D98B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1016/j.neuroimage.2022.119456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5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 cap="small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Milestone 1: Team „</a:t>
            </a:r>
            <a:r>
              <a:rPr lang="en-GB" sz="4400" b="0" u="none" strike="noStrike" cap="small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Whale</a:t>
            </a:r>
            <a:r>
              <a:rPr lang="de-DE" sz="4400" b="0" u="none" strike="noStrike" cap="small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“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Textfeld 7"/>
          <p:cNvSpPr/>
          <p:nvPr/>
        </p:nvSpPr>
        <p:spPr>
          <a:xfrm>
            <a:off x="924120" y="878760"/>
            <a:ext cx="872532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Members: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de-DE">
                <a:solidFill>
                  <a:schemeClr val="dk1"/>
                </a:solidFill>
                <a:latin typeface="Calibri"/>
              </a:rPr>
              <a:t>Zheng Lin, </a:t>
            </a:r>
            <a:r>
              <a:rPr lang="de-DE" err="1">
                <a:solidFill>
                  <a:schemeClr val="dk1"/>
                </a:solidFill>
                <a:latin typeface="Calibri"/>
              </a:rPr>
              <a:t>Qianyue</a:t>
            </a:r>
            <a:r>
              <a:rPr lang="de-DE">
                <a:solidFill>
                  <a:schemeClr val="dk1"/>
                </a:solidFill>
                <a:latin typeface="Calibri"/>
              </a:rPr>
              <a:t> Li, Yanhong Xu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Dataset: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Cameron D et al. 2022, “</a:t>
            </a:r>
            <a:r>
              <a:rPr lang="de-DE" dirty="0">
                <a:solidFill>
                  <a:schemeClr val="dk1"/>
                </a:solidFill>
              </a:rPr>
              <a:t>Task-level </a:t>
            </a:r>
            <a:r>
              <a:rPr lang="de-DE" i="1" dirty="0">
                <a:solidFill>
                  <a:schemeClr val="dk1"/>
                </a:solidFill>
              </a:rPr>
              <a:t>value</a:t>
            </a:r>
            <a:r>
              <a:rPr lang="de-DE" i="1">
                <a:solidFill>
                  <a:schemeClr val="dk1"/>
                </a:solidFill>
              </a:rPr>
              <a:t> </a:t>
            </a:r>
            <a:r>
              <a:rPr lang="de-DE" i="1" err="1">
                <a:solidFill>
                  <a:schemeClr val="dk1"/>
                </a:solidFill>
              </a:rPr>
              <a:t>affects</a:t>
            </a:r>
            <a:r>
              <a:rPr lang="de-DE" i="1">
                <a:solidFill>
                  <a:schemeClr val="dk1"/>
                </a:solidFill>
              </a:rPr>
              <a:t> trial-level </a:t>
            </a:r>
            <a:r>
              <a:rPr lang="de-DE" i="1" err="1">
                <a:solidFill>
                  <a:schemeClr val="dk1"/>
                </a:solidFill>
              </a:rPr>
              <a:t>reward</a:t>
            </a:r>
            <a:r>
              <a:rPr lang="de-DE" i="1">
                <a:solidFill>
                  <a:schemeClr val="dk1"/>
                </a:solidFill>
              </a:rPr>
              <a:t> </a:t>
            </a:r>
            <a:r>
              <a:rPr lang="de-DE" i="1" err="1">
                <a:solidFill>
                  <a:schemeClr val="dk1"/>
                </a:solidFill>
              </a:rPr>
              <a:t>processing</a:t>
            </a:r>
            <a:r>
              <a:rPr lang="de-DE" i="1">
                <a:solidFill>
                  <a:schemeClr val="dk1"/>
                </a:solidFill>
              </a:rPr>
              <a:t>“ </a:t>
            </a:r>
            <a:br>
              <a:rPr lang="de-DE" i="1">
                <a:solidFill>
                  <a:schemeClr val="dk1"/>
                </a:solidFill>
              </a:rPr>
            </a:br>
            <a:r>
              <a:rPr lang="de-DE" i="1">
                <a:solidFill>
                  <a:schemeClr val="dk1"/>
                </a:solidFill>
              </a:rPr>
              <a:t>-</a:t>
            </a:r>
            <a:r>
              <a:rPr lang="de-DE" err="1">
                <a:solidFill>
                  <a:schemeClr val="dk1"/>
                </a:solidFill>
              </a:rPr>
              <a:t>doi</a:t>
            </a:r>
            <a:r>
              <a:rPr lang="de-DE" i="1">
                <a:solidFill>
                  <a:schemeClr val="dk1"/>
                </a:solidFill>
              </a:rPr>
              <a:t> </a:t>
            </a:r>
            <a:r>
              <a:rPr lang="de-DE" i="1" dirty="0">
                <a:solidFill>
                  <a:schemeClr val="dk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https://doi.org/10.1016/j.neuroimage.2022.119456</a:t>
            </a:r>
            <a:r>
              <a:rPr lang="de-DE" i="1">
                <a:solidFill>
                  <a:schemeClr val="dk1"/>
                </a:solidFill>
              </a:rPr>
              <a:t>.  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feld 10"/>
          <p:cNvSpPr/>
          <p:nvPr/>
        </p:nvSpPr>
        <p:spPr>
          <a:xfrm>
            <a:off x="1045800" y="1856880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1. Experimental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procedure</a:t>
            </a: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/ Main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feld 13"/>
          <p:cNvSpPr/>
          <p:nvPr/>
        </p:nvSpPr>
        <p:spPr>
          <a:xfrm>
            <a:off x="1441440" y="4736520"/>
            <a:ext cx="35568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3. Main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finding</a:t>
            </a: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to</a:t>
            </a: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be</a:t>
            </a: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replicated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feld 15"/>
          <p:cNvSpPr/>
          <p:nvPr/>
        </p:nvSpPr>
        <p:spPr>
          <a:xfrm>
            <a:off x="6882550" y="5438767"/>
            <a:ext cx="45716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Compare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the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difference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in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magnitude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of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RewP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Helvetica"/>
                <a:cs typeface="Helvetica"/>
              </a:rPr>
              <a:t>for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each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task and cue.</a:t>
            </a:r>
            <a:endParaRPr lang="en-US">
              <a:solidFill>
                <a:schemeClr val="dk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Helvetica"/>
                <a:cs typeface="Helvetica"/>
              </a:rPr>
              <a:t>Find out if </a:t>
            </a:r>
            <a:r>
              <a:rPr lang="en-US" sz="1400" dirty="0" err="1">
                <a:solidFill>
                  <a:schemeClr val="dk1"/>
                </a:solidFill>
                <a:latin typeface="Helvetica"/>
                <a:cs typeface="Helvetica"/>
              </a:rPr>
              <a:t>RewP</a:t>
            </a:r>
            <a:r>
              <a:rPr lang="en-US" sz="1400" dirty="0">
                <a:solidFill>
                  <a:schemeClr val="dk1"/>
                </a:solidFill>
                <a:latin typeface="Helvetica"/>
                <a:cs typeface="Helvetica"/>
              </a:rPr>
              <a:t> was reduced when average task value was high.</a:t>
            </a:r>
            <a:endParaRPr lang="de-DE" sz="1400" dirty="0">
              <a:solidFill>
                <a:schemeClr val="dk1"/>
              </a:solidFill>
              <a:latin typeface="Helvetica"/>
              <a:cs typeface="Helvetica"/>
            </a:endParaRPr>
          </a:p>
        </p:txBody>
      </p:sp>
      <p:sp>
        <p:nvSpPr>
          <p:cNvPr id="67" name="Textfeld 16"/>
          <p:cNvSpPr/>
          <p:nvPr/>
        </p:nvSpPr>
        <p:spPr>
          <a:xfrm>
            <a:off x="6574560" y="2209680"/>
            <a:ext cx="4571640" cy="20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feld 17"/>
          <p:cNvSpPr/>
          <p:nvPr/>
        </p:nvSpPr>
        <p:spPr>
          <a:xfrm>
            <a:off x="7108560" y="1856880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2. The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main</a:t>
            </a: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research</a:t>
            </a: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question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feld 18"/>
          <p:cNvSpPr/>
          <p:nvPr/>
        </p:nvSpPr>
        <p:spPr>
          <a:xfrm>
            <a:off x="7108560" y="4736520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4. Main type of analysis to be 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feld 19"/>
          <p:cNvSpPr/>
          <p:nvPr/>
        </p:nvSpPr>
        <p:spPr>
          <a:xfrm>
            <a:off x="7102231" y="2763355"/>
            <a:ext cx="39524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Whether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and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how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reward-related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anterior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cingulate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cortex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Helvetica"/>
                <a:cs typeface="Helvetica"/>
              </a:rPr>
              <a:t>(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ACC)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activity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,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as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indexed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by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reward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positive (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RewP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)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varies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with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task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 </a:t>
            </a:r>
            <a:r>
              <a:rPr lang="de-DE" sz="1400" dirty="0" err="1">
                <a:solidFill>
                  <a:schemeClr val="dk1"/>
                </a:solidFill>
                <a:latin typeface="Helvetica"/>
                <a:cs typeface="Helvetica"/>
              </a:rPr>
              <a:t>value</a:t>
            </a:r>
            <a:r>
              <a:rPr lang="de-DE" sz="1400" dirty="0">
                <a:solidFill>
                  <a:schemeClr val="dk1"/>
                </a:solidFill>
                <a:latin typeface="Helvetica"/>
                <a:cs typeface="Helvetica"/>
              </a:rPr>
              <a:t>.</a:t>
            </a:r>
            <a:endParaRPr lang="zh-CN" altLang="en-US" dirty="0">
              <a:solidFill>
                <a:schemeClr val="dk1"/>
              </a:solidFill>
            </a:endParaRPr>
          </a:p>
          <a:p>
            <a:endParaRPr lang="de-DE" sz="1400" dirty="0">
              <a:solidFill>
                <a:schemeClr val="dk1"/>
              </a:solidFill>
              <a:latin typeface="Helvetica"/>
              <a:cs typeface="Helvetica"/>
            </a:endParaRPr>
          </a:p>
        </p:txBody>
      </p:sp>
      <p:pic>
        <p:nvPicPr>
          <p:cNvPr id="3" name="Picture 2" descr="A cartoon whale with bubbles&#10;&#10;AI-generated content may be incorrect.">
            <a:extLst>
              <a:ext uri="{FF2B5EF4-FFF2-40B4-BE49-F238E27FC236}">
                <a16:creationId xmlns:a16="http://schemas.microsoft.com/office/drawing/2014/main" id="{0AAF4F9C-D8BD-0274-6D9C-F883F6CE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0"/>
          <a:stretch>
            <a:fillRect/>
          </a:stretch>
        </p:blipFill>
        <p:spPr>
          <a:xfrm>
            <a:off x="9075294" y="17999"/>
            <a:ext cx="3116706" cy="1934465"/>
          </a:xfrm>
          <a:prstGeom prst="rect">
            <a:avLst/>
          </a:prstGeom>
        </p:spPr>
      </p:pic>
      <p:pic>
        <p:nvPicPr>
          <p:cNvPr id="2" name="Picture 1" descr="A diagram of a button&#10;&#10;AI-generated content may be incorrect.">
            <a:extLst>
              <a:ext uri="{FF2B5EF4-FFF2-40B4-BE49-F238E27FC236}">
                <a16:creationId xmlns:a16="http://schemas.microsoft.com/office/drawing/2014/main" id="{A4988A99-298D-1D72-104F-192ACFB69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12" y="2210686"/>
            <a:ext cx="5482684" cy="13455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70C483-30F5-3BD8-047F-E0BF07CEE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69" y="5101718"/>
            <a:ext cx="4272270" cy="1497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7E66D8-621B-F01D-8666-C61A4B48BF47}"/>
              </a:ext>
            </a:extLst>
          </p:cNvPr>
          <p:cNvSpPr txBox="1"/>
          <p:nvPr/>
        </p:nvSpPr>
        <p:spPr>
          <a:xfrm>
            <a:off x="1085681" y="3432793"/>
            <a:ext cx="4572001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500" dirty="0"/>
              <a:t>2 cues: high-value, low-value</a:t>
            </a:r>
            <a:endParaRPr lang="en-US" sz="15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3 tasks: high-value (100% high-value cue), mid-value (50% high value cue), low-value (0% high value cue)</a:t>
            </a:r>
            <a:endParaRPr lang="en-US" sz="15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Low-task, low-cue vs mid-task, low-cue 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Mid-task, high-cue vs high-task, high-cue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milestone1 2</Template>
  <TotalTime>2</TotalTime>
  <Words>177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</vt:lpstr>
      <vt:lpstr>Milestone 1: Team „Whale“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Liz Lin</dc:creator>
  <dc:description/>
  <cp:lastModifiedBy>Liz Lin</cp:lastModifiedBy>
  <cp:revision>1</cp:revision>
  <dcterms:created xsi:type="dcterms:W3CDTF">2025-10-27T22:34:53Z</dcterms:created>
  <dcterms:modified xsi:type="dcterms:W3CDTF">2025-10-27T22:37:32Z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